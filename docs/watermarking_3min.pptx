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14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CS 5788  ·  Final Project, Spring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10058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Invisible Watermarking for LLMs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0972800" cy="6400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Re-implementing Kirchenbauer et al. (2023) on Gemma 2 9B &amp; LLaMA 3.1 8B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2200" b="1">
                <a:solidFill>
                  <a:srgbClr val="142A55"/>
                </a:solidFill>
                <a:latin typeface="Calibri"/>
              </a:rPr>
              <a:t>Why does this matter?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37560"/>
            <a:ext cx="1097280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42A55"/>
                </a:solidFill>
                <a:latin typeface="Calibri"/>
              </a:rPr>
              <a:t>• AI-generated text is now flooding news, classrooms, and platforms, and post-hoc detectors are unreliable on short or paraphrased passages.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42A55"/>
                </a:solidFill>
                <a:latin typeface="Calibri"/>
              </a:rPr>
              <a:t>• We embed an invisible statistical signal during generation and verify it later with a one-sided z-test.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42A55"/>
                </a:solidFill>
                <a:latin typeface="Calibri"/>
              </a:rPr>
              <a:t>• Goal: high detectability + preserved fluency + survival under realistic edits, on modern instruction-tuned models.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150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Ali Hasan (ah2434) · Ammar Syed (as4422)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Invisible Watermarking for LLMs via Logit Manipulation  ·  Hasan &amp; Syed (CS 5788)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4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11430000" cy="4114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Method  ·  green-list logit-bias watermark</a:t>
            </a:r>
          </a:p>
        </p:txBody>
      </p:sp>
      <p:pic>
        <p:nvPicPr>
          <p:cNvPr id="5" name="Picture 4" descr="fig1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"/>
            <a:ext cx="11064240" cy="47840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572000"/>
            <a:ext cx="1097280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142A55"/>
                </a:solidFill>
                <a:latin typeface="Calibri"/>
              </a:rPr>
              <a:t>• Inject:  SHA-256(seed ‖ prev token) → green list of γ|V| tokens; add bias δ to green-list logits before softmax.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142A55"/>
                </a:solidFill>
                <a:latin typeface="Calibri"/>
              </a:rPr>
              <a:t>• Detect:  replay the hash; count green-list hits; one-sided z-test → flag if z &gt; τ (calibrated for 1% FPR).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142A55"/>
                </a:solidFill>
                <a:latin typeface="Calibri"/>
              </a:rPr>
              <a:t>• Parameters used:  γ = 0.5,   δ = 2,   secret seed = 42  (frozen across all experiments).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Invisible Watermarking for LLMs via Logit Manipulation  ·  Hasan &amp; Syed (CS 5788)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4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11430000" cy="4114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Detection works, and survives surface attacks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548640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800" b="1">
                <a:solidFill>
                  <a:srgbClr val="142A55"/>
                </a:solidFill>
                <a:latin typeface="Calibri"/>
              </a:rPr>
              <a:t>Headline detection (Gemma 2 9B)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48640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142A55"/>
                </a:solidFill>
                <a:latin typeface="Calibri"/>
              </a:rPr>
              <a:t>• TPR @ 1% FPR (all):  90.0%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42A55"/>
                </a:solidFill>
                <a:latin typeface="Calibri"/>
              </a:rPr>
              <a:t>• TPR @ 1% FPR (≥150 tok):  98.7%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42A55"/>
                </a:solidFill>
                <a:latin typeface="Calibri"/>
              </a:rPr>
              <a:t>• GPT-2 PPL ratio (wm/uwm) = 1.09  (+9% overhead)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42A55"/>
                </a:solidFill>
                <a:latin typeface="Calibri"/>
              </a:rPr>
              <a:t>• Same code on LLaMA 3.1 8B:  98.0% TPR, PPL ratio 1.01</a:t>
            </a:r>
          </a:p>
        </p:txBody>
      </p:sp>
      <p:pic>
        <p:nvPicPr>
          <p:cNvPr id="7" name="Picture 6" descr="fig2_zscore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640080"/>
            <a:ext cx="5852160" cy="23131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520440"/>
            <a:ext cx="5486400" cy="45720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800" b="1">
                <a:solidFill>
                  <a:srgbClr val="142A55"/>
                </a:solidFill>
                <a:latin typeface="Calibri"/>
              </a:rPr>
              <a:t>Robust to mild edits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77639"/>
            <a:ext cx="548640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142A55"/>
                </a:solidFill>
                <a:latin typeface="Calibri"/>
              </a:rPr>
              <a:t>• 5% word sub:  TPR = 85.1%   (LLaMA: 96.0%)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42A55"/>
                </a:solidFill>
                <a:latin typeface="Calibri"/>
              </a:rPr>
              <a:t>• 10% word sub:  TPR = 83.6%   (LLaMA: 96.0%)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42A55"/>
                </a:solidFill>
                <a:latin typeface="Calibri"/>
              </a:rPr>
              <a:t>• 20% word sub:  TPR = 75.1%   (LLaMA: 89.9%)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42A55"/>
                </a:solidFill>
                <a:latin typeface="Calibri"/>
              </a:rPr>
              <a:t>• 10% token ins/del: TPR ≈ 86%   (LLaMA: 97%)</a:t>
            </a:r>
          </a:p>
        </p:txBody>
      </p:sp>
      <p:pic>
        <p:nvPicPr>
          <p:cNvPr id="10" name="Picture 9" descr="fig4_robust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520440"/>
            <a:ext cx="5852160" cy="29481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Invisible Watermarking for LLMs via Logit Manipulation  ·  Hasan &amp; Syed (CS 5788)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4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11430000" cy="4114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Detectability ↔ quality:  the δ knee is at 2</a:t>
            </a:r>
          </a:p>
        </p:txBody>
      </p:sp>
      <p:pic>
        <p:nvPicPr>
          <p:cNvPr id="5" name="Picture 4" descr="fig5_delta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31520"/>
            <a:ext cx="6949440" cy="48051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822960"/>
            <a:ext cx="4206240" cy="4114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800" b="1">
                <a:solidFill>
                  <a:srgbClr val="142A55"/>
                </a:solidFill>
                <a:latin typeface="Calibri"/>
              </a:rPr>
              <a:t>Sweep over δ ∈ {0.5, 1, 2, 4, 8}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371600"/>
            <a:ext cx="18288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400" b="1">
                <a:solidFill>
                  <a:srgbClr val="555555"/>
                </a:solidFill>
                <a:latin typeface="Calibri"/>
              </a:rPr>
              <a:t>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1371600"/>
            <a:ext cx="18288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400" b="1">
                <a:solidFill>
                  <a:srgbClr val="555555"/>
                </a:solidFill>
                <a:latin typeface="Calibri"/>
              </a:rPr>
              <a:t>TPR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1371600"/>
            <a:ext cx="18288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400" b="1">
                <a:solidFill>
                  <a:srgbClr val="555555"/>
                </a:solidFill>
                <a:latin typeface="Calibri"/>
              </a:rPr>
              <a:t>PPL ratio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783080"/>
            <a:ext cx="18288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400" b="0">
                <a:solidFill>
                  <a:srgbClr val="142A55"/>
                </a:solidFill>
                <a:latin typeface="Calibri"/>
              </a:rPr>
              <a:t>0.5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1783080"/>
            <a:ext cx="18288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Calibri"/>
              </a:rPr>
              <a:t>22.9%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1783080"/>
            <a:ext cx="18288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400" b="1">
                <a:solidFill>
                  <a:srgbClr val="335BA1"/>
                </a:solidFill>
                <a:latin typeface="Calibri"/>
              </a:rPr>
              <a:t>1.33×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167128"/>
            <a:ext cx="18288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400" b="0">
                <a:solidFill>
                  <a:srgbClr val="142A55"/>
                </a:solidFill>
                <a:latin typeface="Calibri"/>
              </a:rPr>
              <a:t>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2167128"/>
            <a:ext cx="18288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Calibri"/>
              </a:rPr>
              <a:t>60.2%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2167128"/>
            <a:ext cx="18288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400" b="1">
                <a:solidFill>
                  <a:srgbClr val="335BA1"/>
                </a:solidFill>
                <a:latin typeface="Calibri"/>
              </a:rPr>
              <a:t>1.12×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551176"/>
            <a:ext cx="18288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400" b="0">
                <a:solidFill>
                  <a:srgbClr val="142A55"/>
                </a:solidFill>
                <a:latin typeface="Calibri"/>
              </a:rPr>
              <a:t>2.0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2551176"/>
            <a:ext cx="18288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Calibri"/>
              </a:rPr>
              <a:t>90.0%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2551176"/>
            <a:ext cx="18288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400" b="1">
                <a:solidFill>
                  <a:srgbClr val="335BA1"/>
                </a:solidFill>
                <a:latin typeface="Calibri"/>
              </a:rPr>
              <a:t>1.14×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935224"/>
            <a:ext cx="18288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400" b="0">
                <a:solidFill>
                  <a:srgbClr val="142A55"/>
                </a:solidFill>
                <a:latin typeface="Calibri"/>
              </a:rPr>
              <a:t>4.0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935224"/>
            <a:ext cx="18288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Calibri"/>
              </a:rPr>
              <a:t>99.5%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2935224"/>
            <a:ext cx="18288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400" b="1">
                <a:solidFill>
                  <a:srgbClr val="335BA1"/>
                </a:solidFill>
                <a:latin typeface="Calibri"/>
              </a:rPr>
              <a:t>1.45×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3319272"/>
            <a:ext cx="18288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400" b="0">
                <a:solidFill>
                  <a:srgbClr val="142A55"/>
                </a:solidFill>
                <a:latin typeface="Calibri"/>
              </a:rPr>
              <a:t>8.0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3319272"/>
            <a:ext cx="18288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Calibri"/>
              </a:rPr>
              <a:t>100.0%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3319272"/>
            <a:ext cx="1828800" cy="36576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400" b="1">
                <a:solidFill>
                  <a:srgbClr val="335BA1"/>
                </a:solidFill>
                <a:latin typeface="Calibri"/>
              </a:rPr>
              <a:t>2.33×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349240"/>
            <a:ext cx="1097280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142A55"/>
                </a:solidFill>
                <a:latin typeface="Calibri"/>
              </a:rPr>
              <a:t>• δ = 0.5: too weak (23% TPR).  δ = 8: ‘obviously biased’ text (PPL ratio 2.3×).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142A55"/>
                </a:solidFill>
                <a:latin typeface="Calibri"/>
              </a:rPr>
              <a:t>• δ = 2 sits at the knee:  90% TPR overall (99% on long completions) at only 14% PPL overhead.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Invisible Watermarking for LLMs via Logit Manipulation  ·  Hasan &amp; Syed (CS 5788)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4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11430000" cy="41148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Take-aways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5029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2000" b="1">
                <a:solidFill>
                  <a:srgbClr val="142A55"/>
                </a:solidFill>
                <a:latin typeface="Calibri"/>
              </a:rPr>
              <a:t>What we showed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97280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142A55"/>
                </a:solidFill>
                <a:latin typeface="Calibri"/>
              </a:rPr>
              <a:t>• Reproduced the Kirchenbauer scheme on modern 9B instruction-tuned models. Every empirical claim of the original paper still holds.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42A55"/>
                </a:solidFill>
                <a:latin typeface="Calibri"/>
              </a:rPr>
              <a:t>• Detection is reliable (≥99% TPR for 150+ tokens), output quality is preserved (+9% PPL), and the watermark survives 20% random word substitution.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42A55"/>
                </a:solidFill>
                <a:latin typeface="Calibri"/>
              </a:rPr>
              <a:t>• Cross-architecture: same 30-line LogitsProcessor on LLaMA 3.1 8B → 98.0% TPR, PPL ratio 1.01 (stronger than Gemma; different family, different tokenizer).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42A55"/>
                </a:solidFill>
                <a:latin typeface="Calibri"/>
              </a:rPr>
              <a:t>• Documented a real failure mode: HuggingFace’s multimodal-by-default loader silently breaks Gemma 3. That is a load-time issue rather than a watermark issue.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0"/>
            <a:ext cx="10972800" cy="50292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2000" b="1">
                <a:solidFill>
                  <a:srgbClr val="142A55"/>
                </a:solidFill>
                <a:latin typeface="Calibri"/>
              </a:rPr>
              <a:t>What’s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03520"/>
            <a:ext cx="109728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555555"/>
                </a:solidFill>
                <a:latin typeface="Calibri"/>
              </a:rPr>
              <a:t>• Stronger attacks: full LLM paraphrase + spring paraphrase from Kirchenbauer 2024.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555555"/>
                </a:solidFill>
                <a:latin typeface="Calibri"/>
              </a:rPr>
              <a:t>• Distortion-free / semantic-grouping variants  (Kuditipudi 2023; Christ 2024)  for higher-stakes deployments.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Invisible Watermarking for LLMs via Logit Manipulation  ·  Hasan &amp; Syed (CS 5788)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lIns="45720" rIns="45720" tIns="0" bIns="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